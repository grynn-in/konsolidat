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Konsolid</a:t>
            </a:r>
            <a:r>
              <a:rPr sz="4000" b="1">
                <a:solidFill>
                  <a:srgbClr val="6C6BFF"/>
                </a:solidFill>
                <a:latin typeface="Calibri"/>
              </a:rPr>
              <a:t>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Calibri"/>
              </a:rPr>
              <a:t>Open-Source Enterprise Performance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97280" cy="25400"/>
          </a:xfrm>
          <a:prstGeom prst="rect">
            <a:avLst/>
          </a:prstGeom>
          <a:solidFill>
            <a:srgbClr val="6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7F6F1"/>
                </a:solidFill>
                <a:latin typeface="Calibri"/>
              </a:rPr>
              <a:t>Multi-entity consolidation, budgeting, cost allocations, and
variance analysis — powered by </a:t>
            </a:r>
            <a:r>
              <a:rPr sz="1400" b="1">
                <a:solidFill>
                  <a:srgbClr val="6C6BFF"/>
                </a:solidFill>
                <a:latin typeface="Consolas"/>
              </a:rPr>
              <a:t>=EPM()</a:t>
            </a:r>
            <a:r>
              <a:rPr sz="1400" b="0">
                <a:solidFill>
                  <a:srgbClr val="F7F6F1"/>
                </a:solidFill>
                <a:latin typeface="Calibri"/>
              </a:rPr>
              <a:t> in the
spreadsheet your finance team already knows.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60904"/>
            <a:ext cx="73152" cy="73152"/>
          </a:xfrm>
          <a:prstGeom prst="rect">
            <a:avLst/>
          </a:prstGeom>
          <a:solidFill>
            <a:srgbClr val="6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C6BFF"/>
                </a:solidFill>
                <a:latin typeface="Calibri"/>
              </a:rPr>
              <a:t>Excel-Native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072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  <a:latin typeface="Calibri"/>
              </a:rPr>
              <a:t>Five worksheet functions query the analytical warehouse directly from Excel. One keystroke refreshes the entire workbook.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19272"/>
            <a:ext cx="73152" cy="73152"/>
          </a:xfrm>
          <a:prstGeom prst="rect">
            <a:avLst/>
          </a:prstGeom>
          <a:solidFill>
            <a:srgbClr val="6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6440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C6BFF"/>
                </a:solidFill>
                <a:latin typeface="Calibri"/>
              </a:rPr>
              <a:t>IFRS Consolidation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6557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  <a:latin typeface="Calibri"/>
              </a:rPr>
              <a:t>Foreign exchange translation, cumulative translation adjustments, non-controlling interest splits, and intercompany elimination — 26 data quality assertions per build.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40"/>
            <a:ext cx="73152" cy="73152"/>
          </a:xfrm>
          <a:prstGeom prst="rect">
            <a:avLst/>
          </a:prstGeom>
          <a:solidFill>
            <a:srgbClr val="6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2277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C6BFF"/>
                </a:solidFill>
                <a:latin typeface="Calibri"/>
              </a:rPr>
              <a:t>Cost Allocations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239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  <a:latin typeface="Calibri"/>
              </a:rPr>
              <a:t>Three-step cascading allocation engine. Distribute costs by headcount, square metres, or revenue with a complete audit trail.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636008"/>
            <a:ext cx="73152" cy="73152"/>
          </a:xfrm>
          <a:prstGeom prst="rect">
            <a:avLst/>
          </a:prstGeom>
          <a:solidFill>
            <a:srgbClr val="6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8114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C6BFF"/>
                </a:solidFill>
                <a:latin typeface="Calibri"/>
              </a:rPr>
              <a:t>Budgeting &amp; Variance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823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  <a:latin typeface="Calibri"/>
              </a:rPr>
              <a:t>Layered budgets with seasonal spread profiles. Actual versus budget variance analysis with favorable/unfavorable logic.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94376"/>
            <a:ext cx="73152" cy="73152"/>
          </a:xfrm>
          <a:prstGeom prst="rect">
            <a:avLst/>
          </a:prstGeom>
          <a:solidFill>
            <a:srgbClr val="6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3951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C6BFF"/>
                </a:solidFill>
                <a:latin typeface="Calibri"/>
              </a:rPr>
              <a:t>Open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40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  <a:latin typeface="Calibri"/>
              </a:rPr>
              <a:t>MIT-licensed. Built on dbt Core, ClickHouse, and Frappe. Every transformation is a version-controlled SQL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722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konsolid.at   |   Book a 30-minute demo — no slides, we show you the live stack.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99"/>
                </a:solidFill>
                <a:latin typeface="Consolas"/>
              </a:rPr>
              <a:t>Airbyte  ·  ClickHouse  ·  dbt Core  ·  Frappe  ·  Excel VBA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0"/>
            <a:ext cx="560801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411480"/>
            <a:ext cx="46936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WHY KONSOLIDAT?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731520"/>
            <a:ext cx="731520" cy="25400"/>
          </a:xfrm>
          <a:prstGeom prst="rect">
            <a:avLst/>
          </a:prstGeom>
          <a:solidFill>
            <a:srgbClr val="6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960120"/>
            <a:ext cx="46936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Excel Is the 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207008"/>
            <a:ext cx="46936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44"/>
                </a:solidFill>
                <a:latin typeface="Calibri"/>
              </a:rPr>
              <a:t>No new software to learn. Your team builds reports in the tool they’ve mastered over decades. One formula connects Excel directly to the analytical warehouse.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1783080"/>
            <a:ext cx="46936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90% Cost Reduction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029968"/>
            <a:ext cx="46936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44"/>
                </a:solidFill>
                <a:latin typeface="Calibri"/>
              </a:rPr>
              <a:t>No per-user seat fees. No annual licence escalators. Runs on commodity cloud infrastructure. Three-year total cost of ownership under $55,000.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606040"/>
            <a:ext cx="46936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Transparent &amp; Auditable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852928"/>
            <a:ext cx="46936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44"/>
                </a:solidFill>
                <a:latin typeface="Calibri"/>
              </a:rPr>
              <a:t>44 dbt models and 26 automated tests, all version-controlled. The code is the documentation — no black-box calculations.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474720"/>
            <a:ext cx="46936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3-YEAR TOTAL COST OF OWNERSHIP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703320"/>
            <a:ext cx="46936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  <a:latin typeface="Calibri"/>
              </a:rPr>
              <a:t>Approximately 50 users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7040880" y="3977640"/>
          <a:ext cx="4693615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681935"/>
              </a:tblGrid>
              <a:tr h="237744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3-Year Total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44"/>
                          </a:solidFill>
                          <a:latin typeface="Calibri"/>
                        </a:rPr>
                        <a:t>Tagetik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44"/>
                          </a:solidFill>
                          <a:latin typeface="Calibri"/>
                        </a:rPr>
                        <a:t>$200,000 – $500,000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44"/>
                          </a:solidFill>
                          <a:latin typeface="Calibri"/>
                        </a:rPr>
                        <a:t>OneStream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44"/>
                          </a:solidFill>
                          <a:latin typeface="Calibri"/>
                        </a:rPr>
                        <a:t>$300,000 – $700,000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44"/>
                          </a:solidFill>
                          <a:latin typeface="Calibri"/>
                        </a:rPr>
                        <a:t>Anaplan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44"/>
                          </a:solidFill>
                          <a:latin typeface="Calibri"/>
                        </a:rPr>
                        <a:t>$700,000 – $1,400,000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6C6BFF"/>
                          </a:solidFill>
                          <a:latin typeface="Calibri"/>
                        </a:rPr>
                        <a:t>Konsolidat</a:t>
                      </a:r>
                    </a:p>
                  </a:txBody>
                  <a:tcPr anchor="ctr">
                    <a:solidFill>
                      <a:srgbClr val="E8E7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6C6BFF"/>
                          </a:solidFill>
                          <a:latin typeface="Calibri"/>
                        </a:rPr>
                        <a:t>$20,000 – $55,000</a:t>
                      </a:r>
                    </a:p>
                  </a:txBody>
                  <a:tcPr anchor="ctr">
                    <a:solidFill>
                      <a:srgbClr val="E8E7FF"/>
                    </a:solidFill>
                  </a:tcPr>
                </a:tc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7040880" y="5212080"/>
            <a:ext cx="4693615" cy="365760"/>
          </a:xfrm>
          <a:prstGeom prst="rect">
            <a:avLst/>
          </a:prstGeom>
          <a:solidFill>
            <a:srgbClr val="6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5257800"/>
            <a:ext cx="46936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90%+ </a:t>
            </a:r>
            <a:r>
              <a:rPr sz="1200" b="0">
                <a:solidFill>
                  <a:srgbClr val="FFFFFF"/>
                </a:solidFill>
                <a:latin typeface="Calibri"/>
              </a:rPr>
              <a:t>cost savings versus commercial CPM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623560"/>
            <a:ext cx="11734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C6BFF"/>
                </a:solidFill>
                <a:latin typeface="Calibri"/>
              </a:rPr>
              <a:t>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943600"/>
            <a:ext cx="11734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888899"/>
                </a:solidFill>
                <a:latin typeface="Calibri"/>
              </a:rPr>
              <a:t>dbt Models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4283" y="5623560"/>
            <a:ext cx="11734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C6BFF"/>
                </a:solidFill>
                <a:latin typeface="Calibri"/>
              </a:rPr>
              <a:t>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4283" y="5943600"/>
            <a:ext cx="11734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888899"/>
                </a:solidFill>
                <a:latin typeface="Calibri"/>
              </a:rPr>
              <a:t>Data Tests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87687" y="5623560"/>
            <a:ext cx="11734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C6BFF"/>
                </a:solidFill>
                <a:latin typeface="Calibr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87687" y="5943600"/>
            <a:ext cx="11734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888899"/>
                </a:solidFill>
                <a:latin typeface="Calibri"/>
              </a:rPr>
              <a:t>Excel Function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091" y="5623560"/>
            <a:ext cx="11734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C6BFF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1091" y="5943600"/>
            <a:ext cx="11734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888899"/>
                </a:solidFill>
                <a:latin typeface="Calibri"/>
              </a:rPr>
              <a:t>API Endpoints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6263640"/>
            <a:ext cx="46936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99"/>
                </a:solidFill>
                <a:latin typeface="Consolas"/>
              </a:rPr>
              <a:t>MIT Licensed  ·  github.com/grynn-in/konsolidat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